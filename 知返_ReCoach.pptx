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  <p:sldId id="268" r:id="rId12"/>
    <p:sldId id="269" r:id="rId13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5" Type="http://schemas.openxmlformats.org/officeDocument/2006/relationships/notesSlide" Target="../notesSlides/notesSlide3.xml"/><Relationship Id="rId24" Type="http://schemas.openxmlformats.org/officeDocument/2006/relationships/slideLayout" Target="../slideLayouts/slideLayout6.xml"/><Relationship Id="rId23" Type="http://schemas.openxmlformats.org/officeDocument/2006/relationships/tags" Target="../tags/tag45.xml"/><Relationship Id="rId22" Type="http://schemas.openxmlformats.org/officeDocument/2006/relationships/tags" Target="../tags/tag44.xml"/><Relationship Id="rId21" Type="http://schemas.openxmlformats.org/officeDocument/2006/relationships/tags" Target="../tags/tag43.xml"/><Relationship Id="rId20" Type="http://schemas.openxmlformats.org/officeDocument/2006/relationships/tags" Target="../tags/tag42.xml"/><Relationship Id="rId2" Type="http://schemas.openxmlformats.org/officeDocument/2006/relationships/tags" Target="../tags/tag24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54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55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60960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知返 Re:Coach</a:t>
            </a:r>
            <a:endParaRPr sz="34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0" y="324058"/>
            <a:ext cx="2514600" cy="677763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3982700" y="8124825"/>
            <a:ext cx="647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9431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面向机器学习与深度学习的</a:t>
            </a:r>
            <a:endParaRPr sz="31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590800"/>
            <a:ext cx="1047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4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4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4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4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4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4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4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4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4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4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4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个性化教学 Agent</a:t>
            </a:r>
            <a:endParaRPr sz="43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590925"/>
            <a:ext cx="1238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结合局部反馈与历史偏好，调整每一轮讲解。</a:t>
            </a:r>
            <a:endParaRPr sz="24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1980" y="5294630"/>
            <a:ext cx="4305300" cy="12383"/>
          </a:xfrm>
          <a:prstGeom prst="rect">
            <a:avLst/>
          </a:prstGeom>
          <a:solidFill>
            <a:srgbClr val="0073BB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1980" y="5561330"/>
            <a:ext cx="66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5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411605" y="5561330"/>
            <a:ext cx="3476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明确问题</a:t>
            </a:r>
            <a:endParaRPr sz="25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1980" y="6304280"/>
            <a:ext cx="42100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澄清学习卡点，形成具体任务。</a:t>
            </a:r>
            <a:endParaRPr sz="2325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459730" y="5294630"/>
            <a:ext cx="4305300" cy="12383"/>
          </a:xfrm>
          <a:prstGeom prst="rect">
            <a:avLst/>
          </a:prstGeom>
          <a:solidFill>
            <a:srgbClr val="0073BB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459730" y="5561330"/>
            <a:ext cx="66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5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269355" y="5561330"/>
            <a:ext cx="3476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适配讲解</a:t>
            </a:r>
            <a:endParaRPr sz="25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459730" y="6304280"/>
            <a:ext cx="42100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分别确定目标深度与教学起点。</a:t>
            </a:r>
            <a:endParaRPr sz="2325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0317480" y="5294630"/>
            <a:ext cx="4305300" cy="12383"/>
          </a:xfrm>
          <a:prstGeom prst="rect">
            <a:avLst/>
          </a:prstGeom>
          <a:solidFill>
            <a:srgbClr val="0073BB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0317480" y="5561330"/>
            <a:ext cx="66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5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1127105" y="5561330"/>
            <a:ext cx="3476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持续更新</a:t>
            </a:r>
            <a:endParaRPr sz="25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0317480" y="6304280"/>
            <a:ext cx="42100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复用适用偏好，用反馈校准后续。</a:t>
            </a:r>
            <a:endParaRPr sz="2325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09600" y="238125"/>
            <a:ext cx="10858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背景与问题</a:t>
            </a:r>
            <a:endParaRPr sz="13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0960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连续学习需要持续适配</a:t>
            </a:r>
            <a:endParaRPr sz="34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0" y="324058"/>
            <a:ext cx="2514600" cy="677763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3982700" y="8124825"/>
            <a:ext cx="647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212407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8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562100" y="2124075"/>
            <a:ext cx="704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学习问题具有多种意图</a:t>
            </a:r>
            <a:endParaRPr sz="2475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562100" y="2771775"/>
            <a:ext cx="70008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</a:t>
            </a:r>
            <a:r>
              <a:rPr lang="zh-CN"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个问题抛出</a:t>
            </a:r>
            <a:r>
              <a: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，可能需要概念直觉、数学推导或代码实现</a:t>
            </a:r>
            <a:r>
              <a:rPr lang="zh-CN"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等多种解释方法</a:t>
            </a:r>
            <a:r>
              <a: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562100" y="3790950"/>
            <a:ext cx="7000875" cy="12383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9600" y="3981450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8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562100" y="3981450"/>
            <a:ext cx="704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目标深度与已有基础不同</a:t>
            </a:r>
            <a:endParaRPr sz="2475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562100" y="4629150"/>
            <a:ext cx="70008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希望理解完整推导的用户，也可能缺少</a:t>
            </a:r>
            <a:r>
              <a:rPr lang="zh-CN"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数学知识、架构细节</a:t>
            </a:r>
            <a:r>
              <a: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等必要前置。</a:t>
            </a:r>
            <a:endParaRPr sz="21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562100" y="5648325"/>
            <a:ext cx="7000875" cy="12383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09600" y="58388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8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562100" y="5838825"/>
            <a:ext cx="704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连续学习需要保留局部反馈</a:t>
            </a:r>
            <a:endParaRPr sz="2475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562100" y="6486525"/>
            <a:ext cx="70008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给出的</a:t>
            </a:r>
            <a:r>
              <a: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示例偏好、讲解节奏与概念卡点，需要在后续适用</a:t>
            </a:r>
            <a:r>
              <a:rPr lang="zh-CN"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的连续学习</a:t>
            </a:r>
            <a:r>
              <a:rPr sz="2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任务中延续。</a:t>
            </a:r>
            <a:endParaRPr sz="21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334500" y="2133600"/>
            <a:ext cx="5295900" cy="5410200"/>
          </a:xfrm>
          <a:prstGeom prst="rect">
            <a:avLst/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753600" y="2466975"/>
            <a:ext cx="4457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典型学习情境</a:t>
            </a:r>
            <a:endParaRPr sz="22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543415" y="3371850"/>
            <a:ext cx="50069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完整推导注意力机制，</a:t>
            </a:r>
            <a:endParaRPr lang="zh-CN" sz="25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但我对</a:t>
            </a:r>
            <a:r>
              <a:rPr lang="en-US" altLang="zh-CN"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</a:t>
            </a:r>
            <a:r>
              <a:rPr lang="zh-CN" altLang="en-US"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</a:t>
            </a:r>
            <a:r>
              <a:rPr lang="zh-CN" altLang="en-US"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有点疑惑。</a:t>
            </a:r>
            <a:r>
              <a:rPr sz="2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sz="25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753600" y="5010150"/>
            <a:ext cx="4457700" cy="12383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753600" y="5305425"/>
            <a:ext cx="445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教学任务</a:t>
            </a:r>
            <a:endParaRPr sz="2175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753600" y="5943600"/>
            <a:ext cx="44577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识别当前卡点，补足必要前置，</a:t>
            </a:r>
            <a:endParaRPr sz="2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再推进到目标深度。</a:t>
            </a:r>
            <a:endParaRPr sz="2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09600" y="238125"/>
            <a:ext cx="10858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背景与问题</a:t>
            </a:r>
            <a:endParaRPr sz="13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0960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 Agent 的六类失配</a:t>
            </a:r>
            <a:endParaRPr sz="34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0" y="324058"/>
            <a:ext cx="2514600" cy="677763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3982700" y="8124825"/>
            <a:ext cx="647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21907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1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504950" y="2190750"/>
            <a:ext cx="581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未澄清就回答</a:t>
            </a:r>
            <a:endParaRPr sz="2625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504950" y="2838450"/>
            <a:ext cx="5810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问题意图尚未确定就生成长答案，用户仍需</a:t>
            </a:r>
            <a:r>
              <a:rPr 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在大段文字中</a:t>
            </a: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反复追问</a:t>
            </a:r>
            <a:r>
              <a:rPr 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小细节</a:t>
            </a: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才能</a:t>
            </a:r>
            <a:r>
              <a:rPr 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解决自己的问题</a:t>
            </a: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25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504950" y="3895725"/>
            <a:ext cx="5753100" cy="12383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981950" y="21907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1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877300" y="2190750"/>
            <a:ext cx="581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深度与能力混淆</a:t>
            </a:r>
            <a:endParaRPr sz="2625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877300" y="2838450"/>
            <a:ext cx="5810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把目标深度当作已有能力，</a:t>
            </a:r>
            <a:r>
              <a:rPr 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经常直接给出陌生专业名词，</a:t>
            </a: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跳过</a:t>
            </a:r>
            <a:r>
              <a:rPr 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</a:t>
            </a: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前置知识，造成理解断层。</a:t>
            </a:r>
            <a:endParaRPr sz="2025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877300" y="3895725"/>
            <a:ext cx="5753100" cy="12383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09600" y="40481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1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504950" y="4048125"/>
            <a:ext cx="581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偏好反复说明</a:t>
            </a:r>
            <a:endParaRPr sz="2625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504950" y="4695825"/>
            <a:ext cx="5810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示例形式</a:t>
            </a:r>
            <a:r>
              <a:rPr 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、偏好</a:t>
            </a: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与讲解节奏</a:t>
            </a:r>
            <a:r>
              <a:rPr 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、风格</a:t>
            </a: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未被持续复用，用户每轮</a:t>
            </a:r>
            <a:r>
              <a:rPr 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开启新对话</a:t>
            </a: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都要重新</a:t>
            </a:r>
            <a:r>
              <a:rPr 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注入提示词</a:t>
            </a: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25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504950" y="5753100"/>
            <a:ext cx="5753100" cy="12383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981950" y="40481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31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877300" y="4048125"/>
            <a:ext cx="581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局部偏好泛化</a:t>
            </a:r>
            <a:endParaRPr sz="2625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8877300" y="4695825"/>
            <a:ext cx="5810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把某一概念下的</a:t>
            </a:r>
            <a:r>
              <a:rPr 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针对性要求，</a:t>
            </a: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推广到其他任务，导致个性化适配</a:t>
            </a:r>
            <a:r>
              <a:rPr 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泛化，错误影响全局偏好</a:t>
            </a: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25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877300" y="5753100"/>
            <a:ext cx="5753100" cy="12383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09600" y="59055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31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1504950" y="5905500"/>
            <a:ext cx="581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历史持续堆积</a:t>
            </a:r>
            <a:endParaRPr sz="2625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1504950" y="6553200"/>
            <a:ext cx="5810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完整历史持续进入提示词，过期要求与无关对话挤占上下文和调用预算</a:t>
            </a:r>
            <a:r>
              <a:rPr 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，增大</a:t>
            </a:r>
            <a:r>
              <a:rPr lang="en-US" alt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消耗</a:t>
            </a: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25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7981950" y="59055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31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8877300" y="5905500"/>
            <a:ext cx="581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个性化难解释</a:t>
            </a:r>
            <a:endParaRPr sz="2625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8877300" y="6553200"/>
            <a:ext cx="5810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不展示</a:t>
            </a:r>
            <a:r>
              <a:rPr lang="en-US" alt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CoT </a:t>
            </a:r>
            <a:r>
              <a:rPr lang="zh-CN" altLang="en-US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的情况下，</a:t>
            </a: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用户难以知道采用了哪些偏好，也难以定位</a:t>
            </a:r>
            <a:r>
              <a:rPr lang="zh-CN"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</a:t>
            </a:r>
            <a:r>
              <a:rPr sz="20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纠正不合适的记忆。</a:t>
            </a:r>
            <a:endParaRPr sz="2025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61" name="直接箭头连接符 60"/>
          <p:cNvCxnSpPr>
            <a:stCxn id="52" idx="1"/>
            <a:endCxn id="56" idx="3"/>
          </p:cNvCxnSpPr>
          <p:nvPr/>
        </p:nvCxnSpPr>
        <p:spPr>
          <a:xfrm flipH="1">
            <a:off x="11182350" y="6795135"/>
            <a:ext cx="47625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cxnSp>
        <p:nvCxnSpPr>
          <p:cNvPr id="60" name="直接箭头连接符 59"/>
          <p:cNvCxnSpPr>
            <a:stCxn id="37" idx="2"/>
            <a:endCxn id="52" idx="0"/>
          </p:cNvCxnSpPr>
          <p:nvPr/>
        </p:nvCxnSpPr>
        <p:spPr>
          <a:xfrm>
            <a:off x="13144500" y="4871085"/>
            <a:ext cx="0" cy="139065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cxnSp>
        <p:nvCxnSpPr>
          <p:cNvPr id="51" name="直接箭头连接符 50"/>
          <p:cNvCxnSpPr>
            <a:stCxn id="33" idx="3"/>
            <a:endCxn id="37" idx="1"/>
          </p:cNvCxnSpPr>
          <p:nvPr/>
        </p:nvCxnSpPr>
        <p:spPr>
          <a:xfrm>
            <a:off x="11182350" y="4266248"/>
            <a:ext cx="47625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cxnSp>
        <p:nvCxnSpPr>
          <p:cNvPr id="24" name="直接箭头连接符 23"/>
          <p:cNvCxnSpPr>
            <a:stCxn id="15" idx="2"/>
            <a:endCxn id="19" idx="0"/>
          </p:cNvCxnSpPr>
          <p:nvPr/>
        </p:nvCxnSpPr>
        <p:spPr>
          <a:xfrm>
            <a:off x="2085975" y="5233035"/>
            <a:ext cx="0" cy="53340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cxnSp>
        <p:nvCxnSpPr>
          <p:cNvPr id="23" name="直接箭头连接符 22"/>
          <p:cNvCxnSpPr>
            <a:stCxn id="11" idx="2"/>
            <a:endCxn id="15" idx="0"/>
          </p:cNvCxnSpPr>
          <p:nvPr/>
        </p:nvCxnSpPr>
        <p:spPr>
          <a:xfrm>
            <a:off x="2085975" y="3699510"/>
            <a:ext cx="0" cy="53340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sp>
        <p:nvSpPr>
          <p:cNvPr id="2" name="矩形 1"/>
          <p:cNvSpPr>
            <a:spLocks noGrp="1"/>
          </p:cNvSpPr>
          <p:nvPr/>
        </p:nvSpPr>
        <p:spPr>
          <a:xfrm>
            <a:off x="490855" y="469900"/>
            <a:ext cx="11096625" cy="10236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针对上述问题，我们提出</a:t>
            </a:r>
            <a:r>
              <a:rPr lang="en-US" altLang="zh-CN"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Re: Coach</a:t>
            </a:r>
            <a:endParaRPr lang="zh-CN" altLang="en-US" sz="34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0" y="324058"/>
            <a:ext cx="2514600" cy="677763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3982700" y="8124825"/>
            <a:ext cx="647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57200" y="1737360"/>
            <a:ext cx="3286125" cy="5562600"/>
          </a:xfrm>
          <a:prstGeom prst="roundRect">
            <a:avLst>
              <a:gd name="adj" fmla="val 2319"/>
            </a:avLst>
          </a:prstGeom>
          <a:solidFill>
            <a:srgbClr val="FBF6EF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4057650" y="1737360"/>
            <a:ext cx="7353300" cy="6238875"/>
          </a:xfrm>
          <a:prstGeom prst="roundRect">
            <a:avLst>
              <a:gd name="adj" fmla="val 1221"/>
            </a:avLst>
          </a:prstGeom>
          <a:solidFill>
            <a:srgbClr val="FAEFF4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1496675" y="1737360"/>
            <a:ext cx="3286125" cy="6238875"/>
          </a:xfrm>
          <a:prstGeom prst="roundRect">
            <a:avLst>
              <a:gd name="adj" fmla="val 2319"/>
            </a:avLst>
          </a:prstGeom>
          <a:solidFill>
            <a:srgbClr val="EEF5FA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889760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任务解析</a:t>
            </a:r>
            <a:endParaRPr sz="22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324350" y="188976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教学状态与记忆</a:t>
            </a:r>
            <a:endParaRPr sz="22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658600" y="1889760"/>
            <a:ext cx="2971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sz="22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讲解与交付</a:t>
            </a:r>
            <a:endParaRPr sz="22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9600" y="2699385"/>
            <a:ext cx="2952750" cy="1000125"/>
          </a:xfrm>
          <a:prstGeom prst="roundRect">
            <a:avLst>
              <a:gd name="adj" fmla="val 7619"/>
            </a:avLst>
          </a:prstGeom>
          <a:solidFill>
            <a:srgbClr val="F0F5FF"/>
          </a:solidFill>
          <a:ln w="14288">
            <a:solidFill>
              <a:srgbClr val="7199DC"/>
            </a:solidFill>
            <a:prstDash val="solid"/>
          </a:ln>
        </p:spPr>
        <p:txBody>
          <a:bodyPr/>
          <a:p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23210"/>
            <a:ext cx="361950" cy="36195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1228725" y="2823210"/>
            <a:ext cx="2219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学习提问</a:t>
            </a:r>
            <a:endParaRPr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5000" y="3232785"/>
            <a:ext cx="2724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概念、目标与卡点</a:t>
            </a:r>
            <a:endParaRPr sz="16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09600" y="4232910"/>
            <a:ext cx="2952750" cy="1000125"/>
          </a:xfrm>
          <a:prstGeom prst="roundRect">
            <a:avLst>
              <a:gd name="adj" fmla="val 7619"/>
            </a:avLst>
          </a:prstGeom>
          <a:solidFill>
            <a:srgbClr val="F0F5FF"/>
          </a:solidFill>
          <a:ln w="14288">
            <a:solidFill>
              <a:srgbClr val="7199DC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356735"/>
            <a:ext cx="361950" cy="36195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1228725" y="4356735"/>
            <a:ext cx="2219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澄清门控</a:t>
            </a:r>
            <a:endParaRPr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23290" y="4794885"/>
            <a:ext cx="2724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单问澄清，</a:t>
            </a:r>
            <a:r>
              <a:rPr lang="zh-CN"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明确增强语义</a:t>
            </a:r>
            <a:endParaRPr lang="zh-CN" sz="16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09600" y="5766435"/>
            <a:ext cx="2952750" cy="1000125"/>
          </a:xfrm>
          <a:prstGeom prst="roundRect">
            <a:avLst>
              <a:gd name="adj" fmla="val 7619"/>
            </a:avLst>
          </a:prstGeom>
          <a:solidFill>
            <a:srgbClr val="F0F5FF"/>
          </a:solidFill>
          <a:ln w="14288">
            <a:solidFill>
              <a:srgbClr val="7199DC"/>
            </a:solidFill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890260"/>
            <a:ext cx="361950" cy="361950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1228725" y="5890260"/>
            <a:ext cx="2219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明确任务</a:t>
            </a:r>
            <a:endParaRPr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1535" y="6328410"/>
            <a:ext cx="2724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 / 命题 / 任务 / 深度</a:t>
            </a:r>
            <a:endParaRPr sz="16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4324350" y="2699385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EFF5DF"/>
          </a:solidFill>
          <a:ln w="14288">
            <a:solidFill>
              <a:srgbClr val="9BA52A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750" y="2823210"/>
            <a:ext cx="361950" cy="361950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4943475" y="2823210"/>
            <a:ext cx="2314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教学起点</a:t>
            </a:r>
            <a:endParaRPr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552950" y="3261360"/>
            <a:ext cx="28194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当前自述与同概念反馈</a:t>
            </a:r>
            <a:r>
              <a:rPr lang="zh-CN"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</a:t>
            </a:r>
            <a:endParaRPr lang="zh-CN" sz="16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4324350" y="4632960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EFF5DF"/>
          </a:solidFill>
          <a:ln w="14288">
            <a:solidFill>
              <a:srgbClr val="9BA52A"/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50" y="4756785"/>
            <a:ext cx="361950" cy="361950"/>
          </a:xfrm>
          <a:prstGeom prst="rect">
            <a:avLst/>
          </a:prstGeom>
        </p:spPr>
      </p:pic>
      <p:sp>
        <p:nvSpPr>
          <p:cNvPr id="31" name="矩形 30"/>
          <p:cNvSpPr>
            <a:spLocks noGrp="1"/>
          </p:cNvSpPr>
          <p:nvPr/>
        </p:nvSpPr>
        <p:spPr>
          <a:xfrm>
            <a:off x="4943475" y="4756785"/>
            <a:ext cx="2314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作用域记忆</a:t>
            </a:r>
            <a:endParaRPr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438650" y="5194935"/>
            <a:ext cx="28194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 / 领域 / 概念 / 命题 / 任务</a:t>
            </a:r>
            <a:endParaRPr sz="16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134350" y="3661410"/>
            <a:ext cx="3048000" cy="1209675"/>
          </a:xfrm>
          <a:prstGeom prst="roundRect">
            <a:avLst>
              <a:gd name="adj" fmla="val 6299"/>
            </a:avLst>
          </a:prstGeom>
          <a:solidFill>
            <a:srgbClr val="FFF5D8"/>
          </a:solidFill>
          <a:ln w="14288">
            <a:solidFill>
              <a:srgbClr val="B4A648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0" y="3785235"/>
            <a:ext cx="361950" cy="361950"/>
          </a:xfrm>
          <a:prstGeom prst="rect">
            <a:avLst/>
          </a:prstGeom>
        </p:spPr>
      </p:pic>
      <p:sp>
        <p:nvSpPr>
          <p:cNvPr id="35" name="矩形 34"/>
          <p:cNvSpPr>
            <a:spLocks noGrp="1"/>
          </p:cNvSpPr>
          <p:nvPr/>
        </p:nvSpPr>
        <p:spPr>
          <a:xfrm>
            <a:off x="8753475" y="3785235"/>
            <a:ext cx="2314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上下文编译</a:t>
            </a:r>
            <a:endParaRPr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248650" y="4223385"/>
            <a:ext cx="2819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</a:t>
            </a:r>
            <a:r>
              <a:rPr lang="zh-CN"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记忆，记录个性化路径</a:t>
            </a:r>
            <a:endParaRPr sz="16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11658600" y="3661410"/>
            <a:ext cx="2971800" cy="1209675"/>
          </a:xfrm>
          <a:prstGeom prst="roundRect">
            <a:avLst>
              <a:gd name="adj" fmla="val 6299"/>
            </a:avLst>
          </a:prstGeom>
          <a:solidFill>
            <a:srgbClr val="FFF0E1"/>
          </a:solidFill>
          <a:ln w="14288">
            <a:solidFill>
              <a:srgbClr val="E69646"/>
            </a:solidFill>
            <a:prstDash val="solid"/>
          </a:ln>
        </p:spPr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0" y="3785235"/>
            <a:ext cx="361950" cy="361950"/>
          </a:xfrm>
          <a:prstGeom prst="rect">
            <a:avLst/>
          </a:prstGeom>
        </p:spPr>
      </p:pic>
      <p:sp>
        <p:nvSpPr>
          <p:cNvPr id="39" name="矩形 38"/>
          <p:cNvSpPr>
            <a:spLocks noGrp="1"/>
          </p:cNvSpPr>
          <p:nvPr/>
        </p:nvSpPr>
        <p:spPr>
          <a:xfrm>
            <a:off x="12277725" y="3785235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模型讲解</a:t>
            </a:r>
            <a:endParaRPr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772900" y="4223385"/>
            <a:ext cx="2743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由教学方法</a:t>
            </a:r>
            <a:r>
              <a: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流式</a:t>
            </a:r>
            <a:r>
              <a:rPr lang="zh-CN"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sz="16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3562350" y="6261735"/>
            <a:ext cx="36195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3924300" y="3232785"/>
            <a:ext cx="0" cy="302895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</a:ln>
        </p:spPr>
      </p:cxnSp>
      <p:cxnSp>
        <p:nvCxnSpPr>
          <p:cNvPr id="43" name="直接箭头连接符 42"/>
          <p:cNvCxnSpPr/>
          <p:nvPr/>
        </p:nvCxnSpPr>
        <p:spPr>
          <a:xfrm>
            <a:off x="3924300" y="3232785"/>
            <a:ext cx="40005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cxnSp>
        <p:nvCxnSpPr>
          <p:cNvPr id="44" name="直接箭头连接符 43"/>
          <p:cNvCxnSpPr/>
          <p:nvPr/>
        </p:nvCxnSpPr>
        <p:spPr>
          <a:xfrm>
            <a:off x="3924300" y="5166360"/>
            <a:ext cx="40005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cxnSp>
        <p:nvCxnSpPr>
          <p:cNvPr id="45" name="直接箭头连接符 44"/>
          <p:cNvCxnSpPr/>
          <p:nvPr/>
        </p:nvCxnSpPr>
        <p:spPr>
          <a:xfrm>
            <a:off x="7372350" y="3232785"/>
            <a:ext cx="34290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</a:ln>
        </p:spPr>
      </p:cxnSp>
      <p:cxnSp>
        <p:nvCxnSpPr>
          <p:cNvPr id="46" name="直接箭头连接符 45"/>
          <p:cNvCxnSpPr/>
          <p:nvPr/>
        </p:nvCxnSpPr>
        <p:spPr>
          <a:xfrm>
            <a:off x="7715250" y="3232785"/>
            <a:ext cx="0" cy="771525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</a:ln>
        </p:spPr>
      </p:cxnSp>
      <p:cxnSp>
        <p:nvCxnSpPr>
          <p:cNvPr id="47" name="直接箭头连接符 46"/>
          <p:cNvCxnSpPr/>
          <p:nvPr/>
        </p:nvCxnSpPr>
        <p:spPr>
          <a:xfrm>
            <a:off x="7715250" y="4004310"/>
            <a:ext cx="41910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cxnSp>
        <p:nvCxnSpPr>
          <p:cNvPr id="48" name="直接箭头连接符 47"/>
          <p:cNvCxnSpPr/>
          <p:nvPr/>
        </p:nvCxnSpPr>
        <p:spPr>
          <a:xfrm>
            <a:off x="7372350" y="5166360"/>
            <a:ext cx="34290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</a:ln>
        </p:spPr>
      </p:cxnSp>
      <p:cxnSp>
        <p:nvCxnSpPr>
          <p:cNvPr id="49" name="直接箭头连接符 48"/>
          <p:cNvCxnSpPr/>
          <p:nvPr/>
        </p:nvCxnSpPr>
        <p:spPr>
          <a:xfrm>
            <a:off x="7715250" y="4537710"/>
            <a:ext cx="0" cy="62865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</a:ln>
        </p:spPr>
      </p:cxnSp>
      <p:cxnSp>
        <p:nvCxnSpPr>
          <p:cNvPr id="50" name="直接箭头连接符 49"/>
          <p:cNvCxnSpPr/>
          <p:nvPr/>
        </p:nvCxnSpPr>
        <p:spPr>
          <a:xfrm>
            <a:off x="7715250" y="4537710"/>
            <a:ext cx="41910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sp>
        <p:nvSpPr>
          <p:cNvPr id="52" name="圆角矩形 51"/>
          <p:cNvSpPr>
            <a:spLocks noGrp="1"/>
          </p:cNvSpPr>
          <p:nvPr/>
        </p:nvSpPr>
        <p:spPr>
          <a:xfrm>
            <a:off x="11658600" y="6261735"/>
            <a:ext cx="2971800" cy="1066800"/>
          </a:xfrm>
          <a:prstGeom prst="roundRect">
            <a:avLst>
              <a:gd name="adj" fmla="val 7143"/>
            </a:avLst>
          </a:prstGeom>
          <a:solidFill>
            <a:srgbClr val="FFF0E1"/>
          </a:solidFill>
          <a:ln w="14288">
            <a:solidFill>
              <a:srgbClr val="E69646"/>
            </a:solidFill>
            <a:prstDash val="solid"/>
          </a:ln>
        </p:spPr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0" y="6385560"/>
            <a:ext cx="361950" cy="361950"/>
          </a:xfrm>
          <a:prstGeom prst="rect">
            <a:avLst/>
          </a:prstGeom>
        </p:spPr>
      </p:pic>
      <p:sp>
        <p:nvSpPr>
          <p:cNvPr id="54" name="矩形 53"/>
          <p:cNvSpPr>
            <a:spLocks noGrp="1"/>
          </p:cNvSpPr>
          <p:nvPr/>
        </p:nvSpPr>
        <p:spPr>
          <a:xfrm>
            <a:off x="12277725" y="638556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用户反馈</a:t>
            </a:r>
            <a:endParaRPr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1772900" y="6823710"/>
            <a:ext cx="27432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节奏、风格、难度、深度</a:t>
            </a:r>
            <a:endParaRPr lang="zh-CN" sz="16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8134350" y="6261735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FFF0E1"/>
          </a:solidFill>
          <a:ln w="14288">
            <a:solidFill>
              <a:srgbClr val="E69646"/>
            </a:solidFill>
            <a:prstDash val="solid"/>
          </a:ln>
        </p:spPr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0" y="6385560"/>
            <a:ext cx="361950" cy="361950"/>
          </a:xfrm>
          <a:prstGeom prst="rect">
            <a:avLst/>
          </a:prstGeom>
        </p:spPr>
      </p:pic>
      <p:sp>
        <p:nvSpPr>
          <p:cNvPr id="58" name="矩形 57"/>
          <p:cNvSpPr>
            <a:spLocks noGrp="1"/>
          </p:cNvSpPr>
          <p:nvPr/>
        </p:nvSpPr>
        <p:spPr>
          <a:xfrm>
            <a:off x="8753475" y="6385560"/>
            <a:ext cx="2314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局部更新</a:t>
            </a:r>
            <a:endParaRPr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248650" y="6823710"/>
            <a:ext cx="28194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起点校准、偏好写入与遗忘</a:t>
            </a:r>
            <a:endParaRPr sz="16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>
            <a:off x="5848350" y="6795135"/>
            <a:ext cx="2286000" cy="0"/>
          </a:xfrm>
          <a:prstGeom prst="straightConnector1">
            <a:avLst/>
          </a:prstGeom>
          <a:ln w="19050">
            <a:solidFill>
              <a:srgbClr val="0073BB"/>
            </a:solidFill>
            <a:prstDash val="dash"/>
          </a:ln>
        </p:spPr>
      </p:cxnSp>
      <p:cxnSp>
        <p:nvCxnSpPr>
          <p:cNvPr id="63" name="直接箭头连接符 62"/>
          <p:cNvCxnSpPr/>
          <p:nvPr/>
        </p:nvCxnSpPr>
        <p:spPr>
          <a:xfrm>
            <a:off x="5848350" y="5699760"/>
            <a:ext cx="0" cy="1095375"/>
          </a:xfrm>
          <a:prstGeom prst="straightConnector1">
            <a:avLst/>
          </a:prstGeom>
          <a:ln w="19050">
            <a:solidFill>
              <a:srgbClr val="0073BB"/>
            </a:solidFill>
            <a:prstDash val="dash"/>
            <a:headEnd type="triangle" w="sm" len="sm"/>
          </a:ln>
        </p:spPr>
      </p:cxnSp>
      <p:cxnSp>
        <p:nvCxnSpPr>
          <p:cNvPr id="64" name="直接箭头连接符 63"/>
          <p:cNvCxnSpPr/>
          <p:nvPr/>
        </p:nvCxnSpPr>
        <p:spPr>
          <a:xfrm>
            <a:off x="2085975" y="3699510"/>
            <a:ext cx="0" cy="53340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cxnSp>
        <p:nvCxnSpPr>
          <p:cNvPr id="65" name="直接箭头连接符 64"/>
          <p:cNvCxnSpPr/>
          <p:nvPr/>
        </p:nvCxnSpPr>
        <p:spPr>
          <a:xfrm>
            <a:off x="2085975" y="5233035"/>
            <a:ext cx="0" cy="53340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cxnSp>
        <p:nvCxnSpPr>
          <p:cNvPr id="66" name="直接箭头连接符 65"/>
          <p:cNvCxnSpPr/>
          <p:nvPr/>
        </p:nvCxnSpPr>
        <p:spPr>
          <a:xfrm>
            <a:off x="11182350" y="4261485"/>
            <a:ext cx="47625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cxnSp>
        <p:nvCxnSpPr>
          <p:cNvPr id="67" name="直接箭头连接符 66"/>
          <p:cNvCxnSpPr/>
          <p:nvPr/>
        </p:nvCxnSpPr>
        <p:spPr>
          <a:xfrm>
            <a:off x="13144500" y="4871085"/>
            <a:ext cx="0" cy="139065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cxnSp>
        <p:nvCxnSpPr>
          <p:cNvPr id="68" name="直接箭头连接符 67"/>
          <p:cNvCxnSpPr/>
          <p:nvPr/>
        </p:nvCxnSpPr>
        <p:spPr>
          <a:xfrm>
            <a:off x="11182350" y="6795135"/>
            <a:ext cx="47625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headEnd type="triangle" w="sm" len="sm"/>
          </a:ln>
        </p:spPr>
      </p:cxnSp>
      <p:pic>
        <p:nvPicPr>
          <p:cNvPr id="69" name="图片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23210"/>
            <a:ext cx="361950" cy="361950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356735"/>
            <a:ext cx="361950" cy="361950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890260"/>
            <a:ext cx="361950" cy="361950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750" y="2823210"/>
            <a:ext cx="361950" cy="361950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50" y="4756785"/>
            <a:ext cx="361950" cy="361950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0" y="3785235"/>
            <a:ext cx="361950" cy="361950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0" y="3785235"/>
            <a:ext cx="361950" cy="361950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0" y="6385560"/>
            <a:ext cx="361950" cy="361950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0" y="6385560"/>
            <a:ext cx="361950" cy="361950"/>
          </a:xfrm>
          <a:prstGeom prst="rect">
            <a:avLst/>
          </a:prstGeom>
        </p:spPr>
      </p:pic>
      <p:sp>
        <p:nvSpPr>
          <p:cNvPr id="78" name="矩形 77"/>
          <p:cNvSpPr>
            <a:spLocks noGrp="1"/>
          </p:cNvSpPr>
          <p:nvPr/>
        </p:nvSpPr>
        <p:spPr>
          <a:xfrm>
            <a:off x="4324350" y="7357110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反馈按概念与任务复用</a:t>
            </a:r>
            <a:endParaRPr sz="1875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60960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创新点一：</a:t>
            </a:r>
            <a:r>
              <a: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教学目标与教学起点分别建模</a:t>
            </a:r>
            <a:endParaRPr sz="34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0" y="324058"/>
            <a:ext cx="2514600" cy="677763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3982700" y="8124825"/>
            <a:ext cx="647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999615"/>
            <a:ext cx="857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30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733550" y="1999615"/>
            <a:ext cx="7143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目标深度</a:t>
            </a:r>
            <a:endParaRPr sz="2925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33550" y="2771140"/>
            <a:ext cx="7143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决定本轮讲到什么程度。</a:t>
            </a:r>
            <a:endParaRPr sz="24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1185" y="3676015"/>
            <a:ext cx="857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30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715135" y="3676015"/>
            <a:ext cx="7143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教学起点</a:t>
            </a:r>
            <a:endParaRPr sz="2925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715135" y="4447540"/>
            <a:ext cx="7143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决定从哪里开始、补哪些前置。</a:t>
            </a:r>
            <a:endParaRPr sz="24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5428615"/>
            <a:ext cx="8267700" cy="12383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577151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概念反馈</a:t>
            </a:r>
            <a:endParaRPr sz="2475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67050" y="5726430"/>
            <a:ext cx="4183380" cy="5308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调整同一概念的后续讲解路径。</a:t>
            </a:r>
            <a:endParaRPr sz="2325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620250" y="1761490"/>
            <a:ext cx="5010150" cy="5410200"/>
          </a:xfrm>
          <a:prstGeom prst="rect">
            <a:avLst/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982200" y="2085340"/>
            <a:ext cx="428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案例：</a:t>
            </a:r>
            <a:r>
              <a:rPr lang="zh-CN"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注意力机制推导</a:t>
            </a:r>
            <a:endParaRPr lang="zh-CN" sz="240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036810" y="2939415"/>
            <a:ext cx="428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用户自述</a:t>
            </a:r>
            <a:endParaRPr sz="2025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036810" y="3453765"/>
            <a:ext cx="4286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完整推导</a:t>
            </a:r>
            <a:r>
              <a:rPr lang="zh-CN"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，但不太清楚</a:t>
            </a:r>
            <a:r>
              <a:rPr lang="en-US" altLang="zh-CN"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</a:t>
            </a:r>
            <a:r>
              <a:rPr lang="zh-CN" altLang="en-US"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</a:t>
            </a:r>
            <a:r>
              <a: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036810" y="4053840"/>
            <a:ext cx="4286250" cy="12383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0036810" y="4244340"/>
            <a:ext cx="428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起点选择</a:t>
            </a:r>
            <a:endParaRPr sz="2025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0036810" y="4758690"/>
            <a:ext cx="4286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</a:t>
            </a:r>
            <a:r>
              <a:rPr lang="en-US" altLang="zh-CN"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QKV</a:t>
            </a:r>
            <a:r>
              <a:rPr lang="zh-CN" altLang="en-US"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相关知识与</a:t>
            </a:r>
            <a:r>
              <a:rPr lang="en-US" altLang="zh-CN"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softmax</a:t>
            </a:r>
            <a:endParaRPr lang="en-US" altLang="zh-CN" sz="2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0036810" y="5358765"/>
            <a:ext cx="4286250" cy="12383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0036810" y="5549265"/>
            <a:ext cx="428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最终目标</a:t>
            </a:r>
            <a:endParaRPr sz="2025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0036810" y="6063615"/>
            <a:ext cx="4286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Attention(x) </a:t>
            </a:r>
            <a:r>
              <a:rPr lang="zh-CN" altLang="en-US" sz="2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的公式推导</a:t>
            </a:r>
            <a:endParaRPr lang="zh-CN" altLang="en-US" sz="2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35000" y="6597015"/>
            <a:ext cx="508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解决了能力与深度混淆的问题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60960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创新点二：统一结构与</a:t>
            </a:r>
            <a:r>
              <a: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</a:t>
            </a:r>
            <a:r>
              <a:rPr lang="zh-CN"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生命</a:t>
            </a:r>
            <a:endParaRPr lang="zh-CN" sz="34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0" y="324058"/>
            <a:ext cx="2514600" cy="677763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3982700" y="8124825"/>
            <a:ext cx="647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3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550035"/>
          <a:ext cx="14115415" cy="3422015"/>
        </p:xfrm>
        <a:graphic>
          <a:graphicData uri="http://schemas.openxmlformats.org/drawingml/2006/table">
            <a:tbl>
              <a:tblPr/>
              <a:tblGrid>
                <a:gridCol w="2110105"/>
                <a:gridCol w="5034280"/>
                <a:gridCol w="4429760"/>
                <a:gridCol w="2541270"/>
              </a:tblGrid>
              <a:tr h="60515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信息层</a:t>
                      </a:r>
                      <a:endParaRPr sz="2025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L w="6668">
                      <a:solidFill>
                        <a:srgbClr val="E3E7EB"/>
                      </a:solidFill>
                      <a:prstDash val="solid"/>
                    </a:lnL>
                    <a:lnR w="6668">
                      <a:solidFill>
                        <a:srgbClr val="E3E7EB"/>
                      </a:solidFill>
                      <a:prstDash val="solid"/>
                    </a:lnR>
                    <a:lnT w="6668">
                      <a:solidFill>
                        <a:srgbClr val="E3E7EB"/>
                      </a:solidFill>
                      <a:prstDash val="solid"/>
                    </a:lnT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EDF0F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保存内容</a:t>
                      </a:r>
                      <a:endParaRPr sz="2025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T w="6668">
                      <a:solidFill>
                        <a:srgbClr val="E3E7EB"/>
                      </a:solidFill>
                      <a:prstDash val="solid"/>
                    </a:lnT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EDF0F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适用范围</a:t>
                      </a:r>
                      <a:endParaRPr sz="2025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T w="6668">
                      <a:solidFill>
                        <a:srgbClr val="E3E7EB"/>
                      </a:solidFill>
                      <a:prstDash val="solid"/>
                    </a:lnT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EDF0F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更新方式</a:t>
                      </a:r>
                      <a:endParaRPr sz="2025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T w="6668">
                      <a:solidFill>
                        <a:srgbClr val="E3E7EB"/>
                      </a:solidFill>
                      <a:prstDash val="solid"/>
                    </a:lnT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EDF0F3"/>
                    </a:solidFill>
                  </a:tcPr>
                </a:tc>
              </a:tr>
              <a:tr h="93916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en-US" sz="1875" b="1">
                          <a:solidFill>
                            <a:srgbClr val="0073B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ResolvedTask</a:t>
                      </a:r>
                      <a:endParaRPr lang="en-US" sz="1875" b="1">
                        <a:solidFill>
                          <a:srgbClr val="0073B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L w="6668">
                      <a:solidFill>
                        <a:srgbClr val="E3E7EB"/>
                      </a:solidFill>
                      <a:prstDash val="solid"/>
                    </a:lnL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en-US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goal, context, teaching_start, preference...</a:t>
                      </a:r>
                      <a:endParaRPr lang="en-US" sz="1875" b="0">
                        <a:solidFill>
                          <a:srgbClr val="606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</a:t>
                      </a:r>
                      <a:r>
                        <a:rPr lang="zh-CN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一条提问</a:t>
                      </a:r>
                      <a:r>
                        <a:rPr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会话</a:t>
                      </a:r>
                      <a:endParaRPr sz="1875" b="0">
                        <a:solidFill>
                          <a:srgbClr val="606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zh-CN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显式或隐式</a:t>
                      </a:r>
                      <a:r>
                        <a:rPr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更新</a:t>
                      </a:r>
                      <a:endParaRPr sz="1875" b="0">
                        <a:solidFill>
                          <a:srgbClr val="606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853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073B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概念反馈</a:t>
                      </a:r>
                      <a:endParaRPr sz="1875" b="1">
                        <a:solidFill>
                          <a:srgbClr val="0073B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L w="6668">
                      <a:solidFill>
                        <a:srgbClr val="E3E7EB"/>
                      </a:solidFill>
                      <a:prstDash val="solid"/>
                    </a:lnL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en-US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novice / familiar / advanced</a:t>
                      </a:r>
                      <a:endParaRPr lang="en-US" sz="1875" b="0">
                        <a:solidFill>
                          <a:srgbClr val="606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同用户、同概念</a:t>
                      </a:r>
                      <a:r>
                        <a:rPr lang="zh-CN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、同</a:t>
                      </a:r>
                      <a:r>
                        <a:rPr lang="zh-CN" altLang="en-US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命题的明确状态</a:t>
                      </a:r>
                      <a:endParaRPr lang="zh-CN" altLang="en-US" sz="1875" b="0">
                        <a:solidFill>
                          <a:srgbClr val="606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反馈校准</a:t>
                      </a:r>
                      <a:endParaRPr sz="1875" b="0">
                        <a:solidFill>
                          <a:srgbClr val="606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916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073B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长期偏好</a:t>
                      </a:r>
                      <a:endParaRPr sz="1875" b="1">
                        <a:solidFill>
                          <a:srgbClr val="0073B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L w="6668">
                      <a:solidFill>
                        <a:srgbClr val="E3E7EB"/>
                      </a:solidFill>
                      <a:prstDash val="solid"/>
                    </a:lnL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en-US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explanation_preference, interaction_rule</a:t>
                      </a:r>
                      <a:endParaRPr lang="en-US" sz="1875" b="0">
                        <a:solidFill>
                          <a:srgbClr val="606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用户、领域、概念、命题、任务</a:t>
                      </a:r>
                      <a:endParaRPr sz="1875" b="0">
                        <a:solidFill>
                          <a:srgbClr val="606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写入、归档、遗忘</a:t>
                      </a:r>
                      <a:endParaRPr sz="1875" b="0">
                        <a:solidFill>
                          <a:srgbClr val="606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609600" y="5173345"/>
                <a:ext cx="12386945" cy="639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b="1">
                    <a:ea typeface="宋体" panose="02010600030101010101" pitchFamily="2" charset="-122"/>
                  </a:rPr>
                  <a:t>记忆评分函数为</a:t>
                </a:r>
                <a:r>
                  <a:rPr lang="zh-CN" altLang="en-US">
                    <a:ea typeface="宋体" panose="02010600030101010101" pitchFamily="2" charset="-122"/>
                  </a:rPr>
                  <a:t>：</a:t>
                </a:r>
                <a:endParaRPr lang="zh-CN" altLang="en-US">
                  <a:ea typeface="宋体" panose="02010600030101010101" pitchFamily="2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𝑆𝑐𝑜𝑟𝑒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40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𝑠𝑐𝑜𝑝𝑒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25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𝑙𝑒𝑥𝑖𝑐𝑎𝑙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15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𝑒𝑣𝑖𝑑𝑒𝑛𝑐𝑒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10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𝑐𝑜𝑛𝑓𝑖𝑑𝑒𝑛𝑐𝑒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10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𝑟𝑒𝑐𝑒𝑛𝑐𝑦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ea typeface="宋体" panose="02010600030101010101" pitchFamily="2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73345"/>
                <a:ext cx="12386945" cy="63944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635000" y="5820410"/>
            <a:ext cx="7357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其中，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3"/>
            </p:custDataLst>
          </p:nvPr>
        </p:nvGraphicFramePr>
        <p:xfrm>
          <a:off x="1643380" y="6181725"/>
          <a:ext cx="1073785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8925"/>
                <a:gridCol w="536892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scope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7EAE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ea typeface="宋体" panose="02010600030101010101" pitchFamily="2" charset="-122"/>
                          <a:sym typeface="+mn-ea"/>
                        </a:rPr>
                        <a:t>规则适用范围与任务是否一致</a:t>
                      </a:r>
                      <a:endParaRPr lang="zh-CN" altLang="en-US" sz="1800" b="0">
                        <a:solidFill>
                          <a:schemeClr val="tx1"/>
                        </a:solidFill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solidFill>
                      <a:srgbClr val="E7EAE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lexical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ea typeface="宋体" panose="02010600030101010101" pitchFamily="2" charset="-122"/>
                          <a:sym typeface="+mn-ea"/>
                        </a:rPr>
                        <a:t>规则内容与当前任务的相关性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evidence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ea typeface="宋体" panose="02010600030101010101" pitchFamily="2" charset="-122"/>
                          <a:sym typeface="+mn-ea"/>
                        </a:rPr>
                        <a:t>偏好依据的强弱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confidence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ea typeface="宋体" panose="02010600030101010101" pitchFamily="2" charset="-122"/>
                          <a:sym typeface="+mn-ea"/>
                        </a:rPr>
                        <a:t>记忆置信度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recency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ea typeface="宋体" panose="02010600030101010101" pitchFamily="2" charset="-122"/>
                          <a:sym typeface="+mn-ea"/>
                        </a:rPr>
                        <a:t>更新时间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9" name="直接箭头连接符 28"/>
          <p:cNvCxnSpPr>
            <a:stCxn id="15" idx="3"/>
            <a:endCxn id="18" idx="1"/>
          </p:cNvCxnSpPr>
          <p:nvPr/>
        </p:nvCxnSpPr>
        <p:spPr>
          <a:xfrm>
            <a:off x="11249025" y="3559493"/>
            <a:ext cx="89535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cxnSp>
        <p:nvCxnSpPr>
          <p:cNvPr id="28" name="直接箭头连接符 27"/>
          <p:cNvCxnSpPr>
            <a:stCxn id="12" idx="3"/>
            <a:endCxn id="15" idx="1"/>
          </p:cNvCxnSpPr>
          <p:nvPr/>
        </p:nvCxnSpPr>
        <p:spPr>
          <a:xfrm>
            <a:off x="6791325" y="3559493"/>
            <a:ext cx="1209675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sp>
        <p:nvSpPr>
          <p:cNvPr id="2" name="矩形 1"/>
          <p:cNvSpPr>
            <a:spLocks noGrp="1"/>
          </p:cNvSpPr>
          <p:nvPr/>
        </p:nvSpPr>
        <p:spPr>
          <a:xfrm>
            <a:off x="609600" y="60960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创新点三：</a:t>
            </a:r>
            <a:r>
              <a: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上下文编译</a:t>
            </a:r>
            <a:r>
              <a:rPr lang="zh-CN"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与记忆选取可检查</a:t>
            </a:r>
            <a:endParaRPr lang="zh-CN" sz="34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0" y="324058"/>
            <a:ext cx="2514600" cy="677763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3982700" y="8124825"/>
            <a:ext cx="647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550035"/>
            <a:ext cx="140208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确定性上下文编译</a:t>
            </a:r>
            <a:endParaRPr sz="240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2335530"/>
            <a:ext cx="2381250" cy="10191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4288">
            <a:solidFill>
              <a:srgbClr val="0073B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459355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当前任务</a:t>
            </a:r>
            <a:endParaRPr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289750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本轮要求</a:t>
            </a:r>
            <a:endParaRPr sz="16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09600" y="3783330"/>
            <a:ext cx="2381250" cy="10191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4288">
            <a:solidFill>
              <a:srgbClr val="0073B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3907155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局部状态</a:t>
            </a:r>
            <a:endParaRPr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434530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教学起点与会话状态</a:t>
            </a:r>
            <a:endParaRPr sz="16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876675" y="3049905"/>
            <a:ext cx="2914650" cy="10191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4288">
            <a:solidFill>
              <a:srgbClr val="0073B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990975" y="3173730"/>
            <a:ext cx="2686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适用记忆</a:t>
            </a:r>
            <a:endParaRPr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90975" y="361188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适用偏好</a:t>
            </a:r>
            <a:endParaRPr sz="16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01000" y="3049905"/>
            <a:ext cx="3248025" cy="10191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4288">
            <a:solidFill>
              <a:srgbClr val="0073B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115300" y="3173730"/>
            <a:ext cx="3019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上下文编译</a:t>
            </a:r>
            <a:endParaRPr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15300" y="3611880"/>
            <a:ext cx="3019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 / 筛选 / 预算裁剪</a:t>
            </a:r>
            <a:endParaRPr sz="16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2144375" y="3049905"/>
            <a:ext cx="2486025" cy="10191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4288">
            <a:solidFill>
              <a:srgbClr val="0073B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2258675" y="3173730"/>
            <a:ext cx="2257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主模型讲解</a:t>
            </a:r>
            <a:endParaRPr sz="21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258675" y="3611880"/>
            <a:ext cx="2257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流式生成</a:t>
            </a:r>
            <a:endParaRPr sz="16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2990850" y="2840355"/>
            <a:ext cx="43815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</a:ln>
        </p:spPr>
      </p:cxnSp>
      <p:cxnSp>
        <p:nvCxnSpPr>
          <p:cNvPr id="22" name="直接箭头连接符 21"/>
          <p:cNvCxnSpPr/>
          <p:nvPr/>
        </p:nvCxnSpPr>
        <p:spPr>
          <a:xfrm>
            <a:off x="3429000" y="2392680"/>
            <a:ext cx="0" cy="447675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</a:ln>
        </p:spPr>
      </p:cxnSp>
      <p:cxnSp>
        <p:nvCxnSpPr>
          <p:cNvPr id="23" name="直接箭头连接符 22"/>
          <p:cNvCxnSpPr/>
          <p:nvPr/>
        </p:nvCxnSpPr>
        <p:spPr>
          <a:xfrm>
            <a:off x="3429000" y="2392680"/>
            <a:ext cx="619125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</a:ln>
        </p:spPr>
      </p:cxnSp>
      <p:cxnSp>
        <p:nvCxnSpPr>
          <p:cNvPr id="24" name="直接箭头连接符 23"/>
          <p:cNvCxnSpPr/>
          <p:nvPr/>
        </p:nvCxnSpPr>
        <p:spPr>
          <a:xfrm>
            <a:off x="9620250" y="2392680"/>
            <a:ext cx="0" cy="657225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cxnSp>
        <p:nvCxnSpPr>
          <p:cNvPr id="25" name="直接箭头连接符 24"/>
          <p:cNvCxnSpPr/>
          <p:nvPr/>
        </p:nvCxnSpPr>
        <p:spPr>
          <a:xfrm>
            <a:off x="2990850" y="4288155"/>
            <a:ext cx="426720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</a:ln>
        </p:spPr>
      </p:cxnSp>
      <p:cxnSp>
        <p:nvCxnSpPr>
          <p:cNvPr id="26" name="直接箭头连接符 25"/>
          <p:cNvCxnSpPr/>
          <p:nvPr/>
        </p:nvCxnSpPr>
        <p:spPr>
          <a:xfrm>
            <a:off x="7258050" y="3811905"/>
            <a:ext cx="0" cy="47625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</a:ln>
        </p:spPr>
      </p:cxnSp>
      <p:cxnSp>
        <p:nvCxnSpPr>
          <p:cNvPr id="27" name="直接箭头连接符 26"/>
          <p:cNvCxnSpPr/>
          <p:nvPr/>
        </p:nvCxnSpPr>
        <p:spPr>
          <a:xfrm>
            <a:off x="7258050" y="3811905"/>
            <a:ext cx="742950" cy="0"/>
          </a:xfrm>
          <a:prstGeom prst="straightConnector1">
            <a:avLst/>
          </a:prstGeom>
          <a:ln w="19050">
            <a:solidFill>
              <a:srgbClr val="0073BB"/>
            </a:solidFill>
            <a:prstDash val="solid"/>
            <a:tailEnd type="triangle" w="sm" len="sm"/>
          </a:ln>
        </p:spPr>
      </p:cxnSp>
      <p:sp>
        <p:nvSpPr>
          <p:cNvPr id="30" name="矩形 29"/>
          <p:cNvSpPr>
            <a:spLocks noGrp="1"/>
          </p:cNvSpPr>
          <p:nvPr/>
        </p:nvSpPr>
        <p:spPr>
          <a:xfrm>
            <a:off x="8001000" y="4121150"/>
            <a:ext cx="32480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本轮要求优先</a:t>
            </a:r>
            <a:r>
              <a:rPr lang="zh-CN" sz="1875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sz="1875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63245" y="5676900"/>
            <a:ext cx="1433322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第一步，处理本轮覆盖。</a:t>
            </a:r>
            <a:endParaRPr lang="zh-CN" altLang="en-US" b="1"/>
          </a:p>
          <a:p>
            <a:r>
              <a:rPr lang="zh-CN" altLang="en-US"/>
              <a:t>本轮明确要求与长期偏好发生已识别的冲突时，长期偏好本轮不复用</a:t>
            </a:r>
            <a:r>
              <a:rPr lang="en-US" altLang="zh-CN"/>
              <a:t>，</a:t>
            </a:r>
            <a:r>
              <a:rPr lang="zh-CN" altLang="en-US"/>
              <a:t>但保持原存储状态。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第二步，组装结构化提示。</a:t>
            </a:r>
            <a:endParaRPr lang="zh-CN" altLang="en-US" b="1"/>
          </a:p>
          <a:p>
            <a:r>
              <a:rPr lang="zh-CN" altLang="en-US"/>
              <a:t>有关记忆选取的提示包含明确要求、会话约定、稳定偏好与最近对话和任务字段。可以改动前置、直觉、公式、代码以及边界的教学基线。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第三步，生成</a:t>
            </a:r>
            <a:r>
              <a:rPr lang="zh-CN" b="1">
                <a:ea typeface="宋体" panose="02010600030101010101" pitchFamily="2" charset="-122"/>
              </a:rPr>
              <a:t>标记</a:t>
            </a:r>
            <a:r>
              <a:rPr lang="en-US" altLang="zh-CN" b="1"/>
              <a:t>。</a:t>
            </a:r>
            <a:endParaRPr lang="en-US" altLang="zh-CN" b="1"/>
          </a:p>
          <a:p>
            <a:r>
              <a:rPr lang="en-US" altLang="zh-CN"/>
              <a:t>selected、overridden、dropped </a:t>
            </a:r>
            <a:r>
              <a:rPr lang="zh-CN" altLang="en-US"/>
              <a:t>和 </a:t>
            </a:r>
            <a:r>
              <a:rPr lang="en-US" altLang="zh-CN"/>
              <a:t>policy_version </a:t>
            </a:r>
            <a:r>
              <a:rPr lang="zh-CN" altLang="en-US">
                <a:ea typeface="宋体" panose="02010600030101010101" pitchFamily="2" charset="-122"/>
              </a:rPr>
              <a:t>字段</a:t>
            </a:r>
            <a:r>
              <a:rPr lang="zh-CN" altLang="en-US"/>
              <a:t>记录个性化输入的处理结果，做到可识别回答使用了哪些记忆。</a:t>
            </a:r>
            <a:endParaRPr lang="zh-CN" altLang="en-US"/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63245" y="5078730"/>
            <a:ext cx="140208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4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记忆选取字段可检查</a:t>
            </a:r>
            <a:endParaRPr lang="zh-CN" sz="240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60960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项目贡献与应用价值</a:t>
            </a:r>
            <a:endParaRPr sz="34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0" y="324058"/>
            <a:ext cx="2514600" cy="677763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3982700" y="8124825"/>
            <a:ext cx="647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lang="en-US" sz="13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554990" y="2054225"/>
          <a:ext cx="14020800" cy="4728210"/>
        </p:xfrm>
        <a:graphic>
          <a:graphicData uri="http://schemas.openxmlformats.org/drawingml/2006/table">
            <a:tbl>
              <a:tblPr/>
              <a:tblGrid>
                <a:gridCol w="2476500"/>
                <a:gridCol w="5810250"/>
                <a:gridCol w="5734050"/>
              </a:tblGrid>
              <a:tr h="59499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评价维度</a:t>
                      </a:r>
                      <a:endParaRPr sz="2025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L w="6668">
                      <a:solidFill>
                        <a:srgbClr val="E3E7EB"/>
                      </a:solidFill>
                      <a:prstDash val="solid"/>
                    </a:lnL>
                    <a:lnR w="6668">
                      <a:solidFill>
                        <a:srgbClr val="E3E7EB"/>
                      </a:solidFill>
                      <a:prstDash val="solid"/>
                    </a:lnR>
                    <a:lnT w="6668">
                      <a:solidFill>
                        <a:srgbClr val="E3E7EB"/>
                      </a:solidFill>
                      <a:prstDash val="solid"/>
                    </a:lnT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EDF0F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改善</a:t>
                      </a:r>
                      <a:endParaRPr sz="2025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T w="6668">
                      <a:solidFill>
                        <a:srgbClr val="E3E7EB"/>
                      </a:solidFill>
                      <a:prstDash val="solid"/>
                    </a:lnT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EDF0F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对应机制</a:t>
                      </a:r>
                      <a:endParaRPr sz="2025" b="1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T w="6668">
                      <a:solidFill>
                        <a:srgbClr val="E3E7EB"/>
                      </a:solidFill>
                      <a:prstDash val="solid"/>
                    </a:lnT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EDF0F3"/>
                    </a:solidFill>
                  </a:tcPr>
                </a:tc>
              </a:tr>
              <a:tr h="82677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zh-CN" sz="1875" b="1">
                          <a:solidFill>
                            <a:srgbClr val="0073B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</a:t>
                      </a:r>
                      <a:r>
                        <a:rPr lang="en-US" altLang="zh-CN" sz="1875" b="1">
                          <a:solidFill>
                            <a:srgbClr val="0073B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token</a:t>
                      </a:r>
                      <a:endParaRPr lang="en-US" altLang="zh-CN" sz="1875" b="1">
                        <a:solidFill>
                          <a:srgbClr val="0073B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L w="6668">
                      <a:solidFill>
                        <a:srgbClr val="E3E7EB"/>
                      </a:solidFill>
                      <a:prstDash val="solid"/>
                    </a:lnL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zh-CN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注入方案实际</a:t>
                      </a:r>
                      <a:r>
                        <a:rPr lang="en-US" altLang="zh-CN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usage </a:t>
                      </a:r>
                      <a:r>
                        <a:rPr lang="zh-CN" altLang="en-US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减少</a:t>
                      </a:r>
                      <a:r>
                        <a:rPr lang="en-US" altLang="zh-CN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875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55.86%</a:t>
                      </a:r>
                      <a:endParaRPr lang="en-US" altLang="zh-CN" sz="1875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zh-CN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读取完整历史并自行判断上下文注入</a:t>
                      </a:r>
                      <a:endParaRPr lang="zh-CN" sz="1875" b="0">
                        <a:solidFill>
                          <a:srgbClr val="606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677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zh-CN" sz="1875" b="1">
                          <a:solidFill>
                            <a:srgbClr val="0073B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作用域记忆</a:t>
                      </a:r>
                      <a:endParaRPr lang="zh-CN" sz="1875" b="1">
                        <a:solidFill>
                          <a:srgbClr val="0073B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L w="6668">
                      <a:solidFill>
                        <a:srgbClr val="E3E7EB"/>
                      </a:solidFill>
                      <a:prstDash val="solid"/>
                    </a:lnL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zh-CN" altLang="en-US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上下文窗口超一半时，偏好应用正确率提高</a:t>
                      </a:r>
                      <a:r>
                        <a:rPr lang="en-US" altLang="zh-CN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875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33%</a:t>
                      </a:r>
                      <a:endParaRPr lang="en-US" altLang="zh-CN" sz="1875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</a:t>
                      </a:r>
                      <a:r>
                        <a:rPr lang="zh-CN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记忆、偏好的选取与会话实际安排</a:t>
                      </a:r>
                      <a:endParaRPr lang="zh-CN" sz="1875" b="0">
                        <a:solidFill>
                          <a:srgbClr val="606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613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zh-CN" sz="1875" b="1">
                          <a:solidFill>
                            <a:srgbClr val="0073B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</a:t>
                      </a:r>
                      <a:r>
                        <a:rPr lang="en-US" altLang="zh-CN" sz="1875" b="1">
                          <a:solidFill>
                            <a:srgbClr val="0073B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token</a:t>
                      </a:r>
                      <a:endParaRPr lang="en-US" altLang="zh-CN" sz="1875" b="1">
                        <a:solidFill>
                          <a:srgbClr val="0073B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L w="6668">
                      <a:solidFill>
                        <a:srgbClr val="E3E7EB"/>
                      </a:solidFill>
                      <a:prstDash val="solid"/>
                    </a:lnL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zh-CN" sz="1875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三个测试定向场景减少</a:t>
                      </a:r>
                      <a:r>
                        <a:rPr lang="en-US" altLang="zh-CN" sz="1875" b="1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en-US" altLang="zh-CN" sz="1875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18.92%</a:t>
                      </a:r>
                      <a:endParaRPr lang="en-US" altLang="zh-CN" sz="1875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zh-CN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明确问题卡点，做到针对性讲解</a:t>
                      </a:r>
                      <a:endParaRPr lang="zh-CN" sz="1875" b="0">
                        <a:solidFill>
                          <a:srgbClr val="606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74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75" b="1">
                          <a:solidFill>
                            <a:srgbClr val="0073B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起点与澄清匹配</a:t>
                      </a:r>
                      <a:endParaRPr lang="zh-CN" altLang="en-US" sz="1875" b="1">
                        <a:solidFill>
                          <a:srgbClr val="0073B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L w="6668">
                      <a:solidFill>
                        <a:srgbClr val="E3E7EB"/>
                      </a:solidFill>
                      <a:prstDash val="solid"/>
                    </a:lnL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同类型、同作用域问题的解答匹配正确率</a:t>
                      </a:r>
                      <a:r>
                        <a:rPr lang="en-US" altLang="zh-CN" sz="1875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88.9%</a:t>
                      </a:r>
                      <a:endParaRPr lang="en-US" altLang="zh-CN" sz="1875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回答质量与稳定性由统一任务结构与字段决定</a:t>
                      </a:r>
                      <a:endParaRPr lang="zh-CN" altLang="en-US" sz="1875" b="0">
                        <a:solidFill>
                          <a:srgbClr val="606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6135">
                <a:tc>
                  <a:txBody>
                    <a:bodyPr/>
                    <a:p>
                      <a:pPr algn="l"/>
                      <a:r>
                        <a:rPr sz="1875" b="1">
                          <a:solidFill>
                            <a:srgbClr val="0073B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知识运用</a:t>
                      </a:r>
                      <a:endParaRPr sz="1875" b="1">
                        <a:solidFill>
                          <a:srgbClr val="0073B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L w="6668">
                      <a:solidFill>
                        <a:srgbClr val="E3E7EB"/>
                      </a:solidFill>
                      <a:prstDash val="solid"/>
                    </a:lnL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迁移题正确率提高 </a:t>
                      </a:r>
                      <a:r>
                        <a:rPr lang="en-US" sz="1875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6.7%</a:t>
                      </a:r>
                      <a:endParaRPr lang="en-US" sz="1875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补足前置</a:t>
                      </a:r>
                      <a:r>
                        <a:rPr lang="zh-CN" sz="1875" b="0">
                          <a:solidFill>
                            <a:srgbClr val="606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，针对性回答</a:t>
                      </a:r>
                      <a:endParaRPr lang="zh-CN" sz="1875" b="0">
                        <a:solidFill>
                          <a:srgbClr val="606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42875" marB="142875" anchor="ctr">
                    <a:lnR w="6668">
                      <a:solidFill>
                        <a:srgbClr val="E3E7EB"/>
                      </a:solidFill>
                      <a:prstDash val="solid"/>
                    </a:lnR>
                    <a:lnB w="6668">
                      <a:solidFill>
                        <a:srgbClr val="E3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60960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lang="zh-CN" sz="34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0" y="324058"/>
            <a:ext cx="2514600" cy="677763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3982700" y="8124825"/>
            <a:ext cx="647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3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lang="en-US" sz="13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73735" y="2125980"/>
            <a:ext cx="4305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510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73735" y="3297555"/>
            <a:ext cx="4305300" cy="12383"/>
          </a:xfrm>
          <a:prstGeom prst="rect">
            <a:avLst/>
          </a:prstGeom>
          <a:solidFill>
            <a:srgbClr val="0073BB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73735" y="3649980"/>
            <a:ext cx="4305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教学适配</a:t>
            </a:r>
            <a:endParaRPr sz="2925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73735" y="4516755"/>
            <a:ext cx="438023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分别建模</a:t>
            </a:r>
            <a:r>
              <a: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学习目标与教学起点</a:t>
            </a:r>
            <a:r>
              <a:rPr lang="zh-CN"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25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531485" y="2125980"/>
            <a:ext cx="4305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510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531485" y="3297555"/>
            <a:ext cx="4305300" cy="12383"/>
          </a:xfrm>
          <a:prstGeom prst="rect">
            <a:avLst/>
          </a:prstGeom>
          <a:solidFill>
            <a:srgbClr val="0073BB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531485" y="3649980"/>
            <a:ext cx="4305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记忆治理</a:t>
            </a:r>
            <a:endParaRPr sz="2925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531485" y="4516755"/>
            <a:ext cx="41148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按作用域复用偏好</a:t>
            </a:r>
            <a:r>
              <a: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25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并支持纠正。</a:t>
            </a:r>
            <a:endParaRPr sz="25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0389235" y="2125980"/>
            <a:ext cx="4305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1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510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0389235" y="3297555"/>
            <a:ext cx="4305300" cy="12383"/>
          </a:xfrm>
          <a:prstGeom prst="rect">
            <a:avLst/>
          </a:prstGeom>
          <a:solidFill>
            <a:srgbClr val="0073BB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0389235" y="3649980"/>
            <a:ext cx="4305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925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输出交付</a:t>
            </a:r>
            <a:endParaRPr lang="zh-CN" sz="2925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0389235" y="4516755"/>
            <a:ext cx="41148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实现讲解、反馈、更新与追踪的完整闭环。</a:t>
            </a:r>
            <a:endParaRPr sz="255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0" y="324058"/>
            <a:ext cx="2514600" cy="67776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11880" y="2990215"/>
            <a:ext cx="801687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80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Thank You</a:t>
            </a:r>
            <a:r>
              <a:rPr lang="zh-CN" altLang="en-US" sz="800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！</a:t>
            </a:r>
            <a:endParaRPr lang="zh-CN" altLang="en-US" sz="800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15365" y="6734810"/>
            <a:ext cx="13209905" cy="13138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知返 Re:Coach</a:t>
            </a:r>
            <a:r>
              <a:rPr lang="en-US" sz="3450" b="1">
                <a:solidFill>
                  <a:srgbClr val="0073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>
                <a:solidFill>
                  <a:srgbClr val="222222"/>
                </a:solidFill>
                <a:sym typeface="+mn-ea"/>
              </a:rPr>
              <a:t>面向机器学习与深度学习的</a:t>
            </a:r>
            <a:r>
              <a:rPr>
                <a:sym typeface="+mn-ea"/>
              </a:rPr>
              <a:t>个性化教学 Agent</a:t>
            </a:r>
            <a:endParaRPr lang="en-US" sz="3450" b="1">
              <a:solidFill>
                <a:srgbClr val="0073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80000" y="4312285"/>
            <a:ext cx="508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ea typeface="宋体" panose="02010600030101010101" pitchFamily="2" charset="-122"/>
              </a:rPr>
              <a:t>陈奕铭、邹逸天、吕尚霖、文博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1.9,&quot;left&quot;:47.4,&quot;top&quot;:379.5,&quot;width&quot;:1104.6}"/>
</p:tagLst>
</file>

<file path=ppt/tags/tag2.xml><?xml version="1.0" encoding="utf-8"?>
<p:tagLst xmlns:p="http://schemas.openxmlformats.org/presentationml/2006/main">
  <p:tag name="KSO_WM_DIAGRAM_VIRTUALLY_FRAME" val="{&quot;height&quot;:191.9,&quot;left&quot;:47.4,&quot;top&quot;:379.5,&quot;width&quot;:1104.6}"/>
</p:tagLst>
</file>

<file path=ppt/tags/tag3.xml><?xml version="1.0" encoding="utf-8"?>
<p:tagLst xmlns:p="http://schemas.openxmlformats.org/presentationml/2006/main">
  <p:tag name="KSO_WM_DIAGRAM_VIRTUALLY_FRAME" val="{&quot;height&quot;:191.9,&quot;left&quot;:47.4,&quot;top&quot;:379.5,&quot;width&quot;:1104.6}"/>
</p:tagLst>
</file>

<file path=ppt/tags/tag4.xml><?xml version="1.0" encoding="utf-8"?>
<p:tagLst xmlns:p="http://schemas.openxmlformats.org/presentationml/2006/main">
  <p:tag name="KSO_WM_DIAGRAM_VIRTUALLY_FRAME" val="{&quot;height&quot;:191.9,&quot;left&quot;:47.4,&quot;top&quot;:379.5,&quot;width&quot;:1104.6}"/>
</p:tagLst>
</file>

<file path=ppt/tags/tag5.xml><?xml version="1.0" encoding="utf-8"?>
<p:tagLst xmlns:p="http://schemas.openxmlformats.org/presentationml/2006/main">
  <p:tag name="KSO_WM_DIAGRAM_VIRTUALLY_FRAME" val="{&quot;height&quot;:191.9,&quot;left&quot;:47.4,&quot;top&quot;:379.5,&quot;width&quot;:1104.6}"/>
</p:tagLst>
</file>

<file path=ppt/tags/tag6.xml><?xml version="1.0" encoding="utf-8"?>
<p:tagLst xmlns:p="http://schemas.openxmlformats.org/presentationml/2006/main">
  <p:tag name="KSO_WM_DIAGRAM_VIRTUALLY_FRAME" val="{&quot;height&quot;:191.9,&quot;left&quot;:47.4,&quot;top&quot;:379.5,&quot;width&quot;:1104.6}"/>
</p:tagLst>
</file>

<file path=ppt/tags/tag7.xml><?xml version="1.0" encoding="utf-8"?>
<p:tagLst xmlns:p="http://schemas.openxmlformats.org/presentationml/2006/main">
  <p:tag name="KSO_WM_DIAGRAM_VIRTUALLY_FRAME" val="{&quot;height&quot;:191.9,&quot;left&quot;:47.4,&quot;top&quot;:379.5,&quot;width&quot;:1104.6}"/>
</p:tagLst>
</file>

<file path=ppt/tags/tag8.xml><?xml version="1.0" encoding="utf-8"?>
<p:tagLst xmlns:p="http://schemas.openxmlformats.org/presentationml/2006/main">
  <p:tag name="KSO_WM_DIAGRAM_VIRTUALLY_FRAME" val="{&quot;height&quot;:191.9,&quot;left&quot;:47.4,&quot;top&quot;:379.5,&quot;width&quot;:1104.6}"/>
</p:tagLst>
</file>

<file path=ppt/tags/tag9.xml><?xml version="1.0" encoding="utf-8"?>
<p:tagLst xmlns:p="http://schemas.openxmlformats.org/presentationml/2006/main">
  <p:tag name="KSO_WM_DIAGRAM_VIRTUALLY_FRAME" val="{&quot;height&quot;:191.9,&quot;left&quot;:47.4,&quot;top&quot;:379.5,&quot;width&quot;:1104.6}"/>
</p:tagLst>
</file>

<file path=ppt/tags/tag10.xml><?xml version="1.0" encoding="utf-8"?>
<p:tagLst xmlns:p="http://schemas.openxmlformats.org/presentationml/2006/main">
  <p:tag name="KSO_WM_DIAGRAM_VIRTUALLY_FRAME" val="{&quot;height&quot;:191.9,&quot;left&quot;:47.4,&quot;top&quot;:379.5,&quot;width&quot;:1104.6}"/>
</p:tagLst>
</file>

<file path=ppt/tags/tag11.xml><?xml version="1.0" encoding="utf-8"?>
<p:tagLst xmlns:p="http://schemas.openxmlformats.org/presentationml/2006/main">
  <p:tag name="KSO_WM_DIAGRAM_VIRTUALLY_FRAME" val="{&quot;height&quot;:191.9,&quot;left&quot;:47.4,&quot;top&quot;:379.5,&quot;width&quot;:1104.6}"/>
</p:tagLst>
</file>

<file path=ppt/tags/tag12.xml><?xml version="1.0" encoding="utf-8"?>
<p:tagLst xmlns:p="http://schemas.openxmlformats.org/presentationml/2006/main">
  <p:tag name="KSO_WM_DIAGRAM_VIRTUALLY_FRAME" val="{&quot;height&quot;:191.9,&quot;left&quot;:47.4,&quot;top&quot;:379.5,&quot;width&quot;:1104.6}"/>
</p:tagLst>
</file>

<file path=ppt/tags/tag13.xml><?xml version="1.0" encoding="utf-8"?>
<p:tagLst xmlns:p="http://schemas.openxmlformats.org/presentationml/2006/main">
  <p:tag name="KSO_WM_DIAGRAM_VIRTUALLY_FRAME" val="{&quot;height&quot;:426,&quot;left&quot;:48,&quot;top&quot;:167.25,&quot;width&quot;:630}"/>
</p:tagLst>
</file>

<file path=ppt/tags/tag14.xml><?xml version="1.0" encoding="utf-8"?>
<p:tagLst xmlns:p="http://schemas.openxmlformats.org/presentationml/2006/main">
  <p:tag name="KSO_WM_DIAGRAM_VIRTUALLY_FRAME" val="{&quot;height&quot;:426,&quot;left&quot;:48,&quot;top&quot;:167.25,&quot;width&quot;:630}"/>
</p:tagLst>
</file>

<file path=ppt/tags/tag15.xml><?xml version="1.0" encoding="utf-8"?>
<p:tagLst xmlns:p="http://schemas.openxmlformats.org/presentationml/2006/main">
  <p:tag name="KSO_WM_DIAGRAM_VIRTUALLY_FRAME" val="{&quot;height&quot;:426,&quot;left&quot;:48,&quot;top&quot;:167.25,&quot;width&quot;:630}"/>
</p:tagLst>
</file>

<file path=ppt/tags/tag16.xml><?xml version="1.0" encoding="utf-8"?>
<p:tagLst xmlns:p="http://schemas.openxmlformats.org/presentationml/2006/main">
  <p:tag name="KSO_WM_DIAGRAM_VIRTUALLY_FRAME" val="{&quot;height&quot;:426,&quot;left&quot;:48,&quot;top&quot;:167.25,&quot;width&quot;:630}"/>
</p:tagLst>
</file>

<file path=ppt/tags/tag17.xml><?xml version="1.0" encoding="utf-8"?>
<p:tagLst xmlns:p="http://schemas.openxmlformats.org/presentationml/2006/main">
  <p:tag name="KSO_WM_DIAGRAM_VIRTUALLY_FRAME" val="{&quot;height&quot;:426,&quot;left&quot;:48,&quot;top&quot;:167.25,&quot;width&quot;:630}"/>
</p:tagLst>
</file>

<file path=ppt/tags/tag18.xml><?xml version="1.0" encoding="utf-8"?>
<p:tagLst xmlns:p="http://schemas.openxmlformats.org/presentationml/2006/main">
  <p:tag name="KSO_WM_DIAGRAM_VIRTUALLY_FRAME" val="{&quot;height&quot;:426,&quot;left&quot;:48,&quot;top&quot;:167.25,&quot;width&quot;:630}"/>
</p:tagLst>
</file>

<file path=ppt/tags/tag19.xml><?xml version="1.0" encoding="utf-8"?>
<p:tagLst xmlns:p="http://schemas.openxmlformats.org/presentationml/2006/main">
  <p:tag name="KSO_WM_DIAGRAM_VIRTUALLY_FRAME" val="{&quot;height&quot;:426,&quot;left&quot;:48,&quot;top&quot;:167.25,&quot;width&quot;:630}"/>
</p:tagLst>
</file>

<file path=ppt/tags/tag20.xml><?xml version="1.0" encoding="utf-8"?>
<p:tagLst xmlns:p="http://schemas.openxmlformats.org/presentationml/2006/main">
  <p:tag name="KSO_WM_DIAGRAM_VIRTUALLY_FRAME" val="{&quot;height&quot;:426,&quot;left&quot;:48,&quot;top&quot;:167.25,&quot;width&quot;:630}"/>
</p:tagLst>
</file>

<file path=ppt/tags/tag21.xml><?xml version="1.0" encoding="utf-8"?>
<p:tagLst xmlns:p="http://schemas.openxmlformats.org/presentationml/2006/main">
  <p:tag name="KSO_WM_DIAGRAM_VIRTUALLY_FRAME" val="{&quot;height&quot;:426,&quot;left&quot;:48,&quot;top&quot;:167.25,&quot;width&quot;:630}"/>
</p:tagLst>
</file>

<file path=ppt/tags/tag22.xml><?xml version="1.0" encoding="utf-8"?>
<p:tagLst xmlns:p="http://schemas.openxmlformats.org/presentationml/2006/main">
  <p:tag name="KSO_WM_DIAGRAM_VIRTUALLY_FRAME" val="{&quot;height&quot;:426,&quot;left&quot;:48,&quot;top&quot;:167.25,&quot;width&quot;:630}"/>
</p:tagLst>
</file>

<file path=ppt/tags/tag23.xml><?xml version="1.0" encoding="utf-8"?>
<p:tagLst xmlns:p="http://schemas.openxmlformats.org/presentationml/2006/main">
  <p:tag name="KSO_WM_DIAGRAM_VIRTUALLY_FRAME" val="{&quot;height&quot;:426,&quot;left&quot;:48,&quot;top&quot;:167.25,&quot;width&quot;:630}"/>
</p:tagLst>
</file>

<file path=ppt/tags/tag24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25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26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27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28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29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30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31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32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33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34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35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36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37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38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39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40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41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42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43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44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45.xml><?xml version="1.0" encoding="utf-8"?>
<p:tagLst xmlns:p="http://schemas.openxmlformats.org/presentationml/2006/main">
  <p:tag name="KSO_WM_DIAGRAM_VIRTUALLY_FRAME" val="{&quot;height&quot;:427.5,&quot;left&quot;:48,&quot;top&quot;:172.5,&quot;width&quot;:1108.5}"/>
</p:tagLst>
</file>

<file path=ppt/tags/tag46.xml><?xml version="1.0" encoding="utf-8"?>
<p:tagLst xmlns:p="http://schemas.openxmlformats.org/presentationml/2006/main">
  <p:tag name="KSO_WM_DIAGRAM_VIRTUALLY_FRAME" val="{&quot;height&quot;:294.75,&quot;left&quot;:790.3,&quot;top&quot;:231.45,&quot;width&quot;:337.5}"/>
</p:tagLst>
</file>

<file path=ppt/tags/tag47.xml><?xml version="1.0" encoding="utf-8"?>
<p:tagLst xmlns:p="http://schemas.openxmlformats.org/presentationml/2006/main">
  <p:tag name="KSO_WM_DIAGRAM_VIRTUALLY_FRAME" val="{&quot;height&quot;:294.75,&quot;left&quot;:790.3,&quot;top&quot;:231.45,&quot;width&quot;:337.5}"/>
</p:tagLst>
</file>

<file path=ppt/tags/tag48.xml><?xml version="1.0" encoding="utf-8"?>
<p:tagLst xmlns:p="http://schemas.openxmlformats.org/presentationml/2006/main">
  <p:tag name="KSO_WM_DIAGRAM_VIRTUALLY_FRAME" val="{&quot;height&quot;:294.75,&quot;left&quot;:790.3,&quot;top&quot;:231.45,&quot;width&quot;:337.5}"/>
</p:tagLst>
</file>

<file path=ppt/tags/tag49.xml><?xml version="1.0" encoding="utf-8"?>
<p:tagLst xmlns:p="http://schemas.openxmlformats.org/presentationml/2006/main">
  <p:tag name="KSO_WM_DIAGRAM_VIRTUALLY_FRAME" val="{&quot;height&quot;:294.75,&quot;left&quot;:790.3,&quot;top&quot;:231.45,&quot;width&quot;:337.5}"/>
</p:tagLst>
</file>

<file path=ppt/tags/tag50.xml><?xml version="1.0" encoding="utf-8"?>
<p:tagLst xmlns:p="http://schemas.openxmlformats.org/presentationml/2006/main">
  <p:tag name="KSO_WM_DIAGRAM_VIRTUALLY_FRAME" val="{&quot;height&quot;:294.75,&quot;left&quot;:790.3,&quot;top&quot;:231.45,&quot;width&quot;:337.5}"/>
</p:tagLst>
</file>

<file path=ppt/tags/tag51.xml><?xml version="1.0" encoding="utf-8"?>
<p:tagLst xmlns:p="http://schemas.openxmlformats.org/presentationml/2006/main">
  <p:tag name="KSO_WM_DIAGRAM_VIRTUALLY_FRAME" val="{&quot;height&quot;:294.75,&quot;left&quot;:790.3,&quot;top&quot;:231.45,&quot;width&quot;:337.5}"/>
</p:tagLst>
</file>

<file path=ppt/tags/tag52.xml><?xml version="1.0" encoding="utf-8"?>
<p:tagLst xmlns:p="http://schemas.openxmlformats.org/presentationml/2006/main">
  <p:tag name="KSO_WM_DIAGRAM_VIRTUALLY_FRAME" val="{&quot;height&quot;:294.75,&quot;left&quot;:790.3,&quot;top&quot;:231.45,&quot;width&quot;:337.5}"/>
</p:tagLst>
</file>

<file path=ppt/tags/tag53.xml><?xml version="1.0" encoding="utf-8"?>
<p:tagLst xmlns:p="http://schemas.openxmlformats.org/presentationml/2006/main">
  <p:tag name="KSO_WM_DIAGRAM_VIRTUALLY_FRAME" val="{&quot;height&quot;:294.75,&quot;left&quot;:790.3,&quot;top&quot;:231.45,&quot;width&quot;:337.5}"/>
</p:tagLst>
</file>

<file path=ppt/tags/tag54.xml><?xml version="1.0" encoding="utf-8"?>
<p:tagLst xmlns:p="http://schemas.openxmlformats.org/presentationml/2006/main">
  <p:tag name="TABLE_ENDDRAG_ORIGIN_RECT" val="845*150"/>
  <p:tag name="TABLE_ENDDRAG_RECT" val="146*507*845*150"/>
</p:tagLst>
</file>

<file path=ppt/tags/tag55.xml><?xml version="1.0" encoding="utf-8"?>
<p:tagLst xmlns:p="http://schemas.openxmlformats.org/presentationml/2006/main">
  <p:tag name="TABLE_ENDDRAG_ORIGIN_RECT" val="1104*499"/>
  <p:tag name="TABLE_ENDDRAG_RECT" val="44*140*1104*499"/>
</p:tagLst>
</file>

<file path=ppt/tags/tag56.xml><?xml version="1.0" encoding="utf-8"?>
<p:tagLst xmlns:p="http://schemas.openxmlformats.org/presentationml/2006/main">
  <p:tag name="KSO_WM_DIAGRAM_VIRTUALLY_FRAME" val="{&quot;height&quot;:354.85,&quot;left&quot;:47.4,&quot;top&quot;:133.4,&quot;width&quot;:1109.65}"/>
</p:tagLst>
</file>

<file path=ppt/tags/tag57.xml><?xml version="1.0" encoding="utf-8"?>
<p:tagLst xmlns:p="http://schemas.openxmlformats.org/presentationml/2006/main">
  <p:tag name="KSO_WM_DIAGRAM_VIRTUALLY_FRAME" val="{&quot;height&quot;:354.85,&quot;left&quot;:47.4,&quot;top&quot;:133.4,&quot;width&quot;:1109.65}"/>
</p:tagLst>
</file>

<file path=ppt/tags/tag58.xml><?xml version="1.0" encoding="utf-8"?>
<p:tagLst xmlns:p="http://schemas.openxmlformats.org/presentationml/2006/main">
  <p:tag name="KSO_WM_DIAGRAM_VIRTUALLY_FRAME" val="{&quot;height&quot;:354.85,&quot;left&quot;:47.4,&quot;top&quot;:133.4,&quot;width&quot;:1109.65}"/>
</p:tagLst>
</file>

<file path=ppt/tags/tag59.xml><?xml version="1.0" encoding="utf-8"?>
<p:tagLst xmlns:p="http://schemas.openxmlformats.org/presentationml/2006/main">
  <p:tag name="KSO_WM_DIAGRAM_VIRTUALLY_FRAME" val="{&quot;height&quot;:354.85,&quot;left&quot;:47.4,&quot;top&quot;:133.4,&quot;width&quot;:1109.65}"/>
</p:tagLst>
</file>

<file path=ppt/tags/tag60.xml><?xml version="1.0" encoding="utf-8"?>
<p:tagLst xmlns:p="http://schemas.openxmlformats.org/presentationml/2006/main">
  <p:tag name="KSO_WM_DIAGRAM_VIRTUALLY_FRAME" val="{&quot;height&quot;:354.85,&quot;left&quot;:47.4,&quot;top&quot;:133.4,&quot;width&quot;:1109.65}"/>
</p:tagLst>
</file>

<file path=ppt/tags/tag61.xml><?xml version="1.0" encoding="utf-8"?>
<p:tagLst xmlns:p="http://schemas.openxmlformats.org/presentationml/2006/main">
  <p:tag name="KSO_WM_DIAGRAM_VIRTUALLY_FRAME" val="{&quot;height&quot;:354.85,&quot;left&quot;:47.4,&quot;top&quot;:133.4,&quot;width&quot;:1109.65}"/>
</p:tagLst>
</file>

<file path=ppt/tags/tag62.xml><?xml version="1.0" encoding="utf-8"?>
<p:tagLst xmlns:p="http://schemas.openxmlformats.org/presentationml/2006/main">
  <p:tag name="KSO_WM_DIAGRAM_VIRTUALLY_FRAME" val="{&quot;height&quot;:354.85,&quot;left&quot;:47.4,&quot;top&quot;:133.4,&quot;width&quot;:1109.65}"/>
</p:tagLst>
</file>

<file path=ppt/tags/tag63.xml><?xml version="1.0" encoding="utf-8"?>
<p:tagLst xmlns:p="http://schemas.openxmlformats.org/presentationml/2006/main">
  <p:tag name="KSO_WM_DIAGRAM_VIRTUALLY_FRAME" val="{&quot;height&quot;:354.85,&quot;left&quot;:47.4,&quot;top&quot;:133.4,&quot;width&quot;:1109.65}"/>
</p:tagLst>
</file>

<file path=ppt/tags/tag64.xml><?xml version="1.0" encoding="utf-8"?>
<p:tagLst xmlns:p="http://schemas.openxmlformats.org/presentationml/2006/main">
  <p:tag name="KSO_WM_DIAGRAM_VIRTUALLY_FRAME" val="{&quot;height&quot;:354.85,&quot;left&quot;:47.4,&quot;top&quot;:133.4,&quot;width&quot;:1109.65}"/>
</p:tagLst>
</file>

<file path=ppt/tags/tag65.xml><?xml version="1.0" encoding="utf-8"?>
<p:tagLst xmlns:p="http://schemas.openxmlformats.org/presentationml/2006/main">
  <p:tag name="KSO_WM_DIAGRAM_VIRTUALLY_FRAME" val="{&quot;height&quot;:354.85,&quot;left&quot;:47.4,&quot;top&quot;:133.4,&quot;width&quot;:1109.65}"/>
</p:tagLst>
</file>

<file path=ppt/tags/tag66.xml><?xml version="1.0" encoding="utf-8"?>
<p:tagLst xmlns:p="http://schemas.openxmlformats.org/presentationml/2006/main">
  <p:tag name="KSO_WM_DIAGRAM_VIRTUALLY_FRAME" val="{&quot;height&quot;:354.85,&quot;left&quot;:47.4,&quot;top&quot;:133.4,&quot;width&quot;:1109.65}"/>
</p:tagLst>
</file>

<file path=ppt/tags/tag67.xml><?xml version="1.0" encoding="utf-8"?>
<p:tagLst xmlns:p="http://schemas.openxmlformats.org/presentationml/2006/main">
  <p:tag name="KSO_WM_DIAGRAM_VIRTUALLY_FRAME" val="{&quot;height&quot;:354.85,&quot;left&quot;:47.4,&quot;top&quot;:133.4,&quot;width&quot;:1109.6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2159</Words>
  <Application>WPS 演示</Application>
  <PresentationFormat>Converted Presentation</PresentationFormat>
  <Paragraphs>358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Calibri</vt:lpstr>
      <vt:lpstr>Cambria Math</vt:lpstr>
      <vt:lpstr>MS Mincho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邹逸天</cp:lastModifiedBy>
  <cp:revision>66</cp:revision>
  <dcterms:created xsi:type="dcterms:W3CDTF">2026-10-23T13:54:47Z</dcterms:created>
  <dcterms:modified xsi:type="dcterms:W3CDTF">2026-10-23T15:26:55Z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C769FD9DB3DB419A94952266F4A4ABBD_12</vt:lpwstr>
  </property>
  <property fmtid="{D5CDD505-2E9C-101B-9397-08002B2CF9AE}" pid="3" name="KSOProductBuildVer">
    <vt:lpwstr>2052-12.1.0.29161</vt:lpwstr>
  </property>
</Properties>
</file>